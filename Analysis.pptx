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Light" panose="02000000000000000000" pitchFamily="2" charset="0"/>
      <p:regular r:id="rId18"/>
      <p:italic r:id="rId19"/>
    </p:embeddedFont>
    <p:embeddedFont>
      <p:font typeface="Roboto Medium" panose="020F0502020204030204" pitchFamily="34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0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20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3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4750"/>
            <a:ext cx="3090505" cy="3862507"/>
          </a:xfrm>
          <a:prstGeom prst="roundRect">
            <a:avLst>
              <a:gd name="adj" fmla="val 308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999184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Current Funnel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89603"/>
            <a:ext cx="262163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Blended conversion rate stands at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0.50%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is a deceptive average that masks a high-performing Mobile segment and a significantly under-indexed Desktop experience.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764750"/>
            <a:ext cx="3090624" cy="3862507"/>
          </a:xfrm>
          <a:prstGeom prst="roundRect">
            <a:avLst>
              <a:gd name="adj" fmla="val 308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2999184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Primary Friction Point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543" y="3843933"/>
            <a:ext cx="262175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transition from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 to Payment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"leakiest" part of the funnel, losing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86.7%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users. This represents the single largest opportunity for revenue unlock.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764750"/>
            <a:ext cx="3090624" cy="3862507"/>
          </a:xfrm>
          <a:prstGeom prst="roundRect">
            <a:avLst>
              <a:gd name="adj" fmla="val 308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2999184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The Delta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489603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users convert at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4x the rate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Desktop users (1.0% vs. 0.25%).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764750"/>
            <a:ext cx="3090624" cy="3862507"/>
          </a:xfrm>
          <a:prstGeom prst="roundRect">
            <a:avLst>
              <a:gd name="adj" fmla="val 308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2999184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Strategic Verdict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420" y="3489603"/>
            <a:ext cx="262175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to a "Mobile-First" development priority. Realigning Desktop UX to match Mobile's efficiency and reallocating marketing spend will drive an immediate step-change in ROI.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317"/>
            <a:ext cx="8907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Full Funnel Performance &amp; Attrition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22822"/>
            <a:ext cx="1250251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Mid-Funnel Leakage Accounts for 90%+ of Total User Attrition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29959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66402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Home to Search (50% Retention)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08778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user intent is strong and consistent across all platforms.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529959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366402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 to Payment (13.3% Retention)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4508778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Leakage Point.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6 out of 7 users drop off after searching, indicating issues with product relevance or "Add to Cart" visibility.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529959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3664029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 to Confirmation (7.5% Retention)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4508778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stage friction suggests technical payment errors, lack of guest checkout, or missing trust signals.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644235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0F163E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6786443"/>
            <a:ext cx="283488" cy="2268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672584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 Line: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every 1,000 users who land on the Home Page, only 5 complete a purchase.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993" y="862965"/>
            <a:ext cx="8915043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Platform Divergence (Mobile vs. Desktop)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01993" y="1526738"/>
            <a:ext cx="13226296" cy="958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Mobile Outperforms Desktop Across Every Node with a +301% Total Efficiency Gain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93" y="2728079"/>
            <a:ext cx="8823603" cy="2605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993" y="5661184"/>
            <a:ext cx="6379250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Insight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01993" y="6160413"/>
            <a:ext cx="6379250" cy="106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users are </a:t>
            </a:r>
            <a:r>
              <a:rPr lang="en-US" sz="1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2x more likely</a:t>
            </a: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proceed to payment and </a:t>
            </a:r>
            <a:r>
              <a:rPr lang="en-US" sz="18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2x more likely</a:t>
            </a: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finalize a purchase once in the checkout flow.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6540" y="5661184"/>
            <a:ext cx="6379250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556540" y="6160413"/>
            <a:ext cx="6379250" cy="106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Mobile UI likely benefits from a simplified "linear" path, whereas Desktop may suffer from "information overload" or technical friction during checkout.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6721"/>
            <a:ext cx="59065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Behavioral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6226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Structural UX Barriers are Throttling Desktop Conversion and Final-Stage Checkout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660338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660338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917633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Insight 1 (Search Relevance)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762381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+100% Delta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Search-to-Payment suggests Mobile search results are either more relevant or the layout allows for faster product selection compared to Desktop.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660338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660338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917633"/>
            <a:ext cx="35815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Insight 2 (Checkout Fatigue)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408051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92.5% drop-off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the Payment stage is a major red flag. On Desktop, this drop-off is nearly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suggesting the Desktop payment form is likely too complex or prone to errors.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660338"/>
            <a:ext cx="4196358" cy="3182422"/>
          </a:xfrm>
          <a:prstGeom prst="roundRect">
            <a:avLst>
              <a:gd name="adj" fmla="val 4597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660338"/>
            <a:ext cx="121920" cy="318242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917633"/>
            <a:ext cx="32823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Insight 3 (Platform Intent)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88868" y="4408051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is functioning as a high-velocity transactional tool, while Desktop is currently functioning as a "window-shopping" platform with significant barriers to closing the sale.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070" y="523042"/>
            <a:ext cx="6034207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Strategic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53070" y="1181100"/>
            <a:ext cx="7470577" cy="475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High-Impact Interventions to Triple Revenue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70" y="1895713"/>
            <a:ext cx="13124140" cy="5891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6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19316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86714"/>
            <a:ext cx="6407944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61022"/>
            <a:ext cx="4308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Immediate Technical Remediation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51440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an urgent root-cause analysis and rollback of UI/API updates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9316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286714"/>
            <a:ext cx="6408063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461022"/>
            <a:ext cx="4035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Mobile-First Resource Arbitrage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2951440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Reallocate 80% of the marketing budget toward Mobile channels to capitalize on its 4x higher conversion efficiency compared to Desktop.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43698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792028"/>
            <a:ext cx="6407944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966335"/>
            <a:ext cx="45686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Search-to-Payment UX Optimization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456753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Simplify the search results interface and implement "Quick-Buy" buttons to address the massive 86.7% drop-off at the product discovery stage.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43698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792028"/>
            <a:ext cx="6408063" cy="30480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966335"/>
            <a:ext cx="41949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Frictionless Checkout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456753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one-tap payment solutions to eliminate the final-stage friction that currently causes 92.5% of payment-ready users to abandon.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7084014"/>
            <a:ext cx="13042821" cy="35957"/>
          </a:xfrm>
          <a:prstGeom prst="rect">
            <a:avLst/>
          </a:prstGeom>
          <a:solidFill>
            <a:srgbClr val="CFD0D8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911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Risks &amp; Next Steps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2975134"/>
            <a:ext cx="9680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4379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Immediate Deployment of UX Monitoring and Technical Root-Cause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Limitation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47758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assumes a single-session journey. We need cross-device tracking to ensure users aren't "Searching on Desktop" and "Buying on Mobile."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Risk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758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technical audit is required to ensure the 95% Desktop payment drop isn't caused by a specific browser incompatibility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600</Words>
  <Application>Microsoft Macintosh PowerPoint</Application>
  <PresentationFormat>Custom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Roboto Medium</vt:lpstr>
      <vt:lpstr>Calibri</vt:lpstr>
      <vt:lpstr>Roboto Light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Manvenderr Singh</cp:lastModifiedBy>
  <cp:revision>2</cp:revision>
  <dcterms:created xsi:type="dcterms:W3CDTF">2026-02-09T09:26:12Z</dcterms:created>
  <dcterms:modified xsi:type="dcterms:W3CDTF">2026-02-09T09:39:34Z</dcterms:modified>
</cp:coreProperties>
</file>